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cancellations (%)</c:v>
                </c:pt>
              </c:strCache>
            </c:strRef>
          </c:tx>
          <c:spPr>
            <a:solidFill>
              <a:srgbClr val="2B4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B19"/>
                    </a:solidFill>
                    <a:latin typeface="IBM Plex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  <c:pt idx="4">
                    <c:v>Weeks 5–8</c:v>
                  </c:pt>
                  <c:pt idx="5">
                    <c:v>Weeks 9+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17</c:v>
                </c:pt>
                <c:pt idx="2">
                  <c:v>21</c:v>
                </c:pt>
                <c:pt idx="3">
                  <c:v>14</c:v>
                </c:pt>
                <c:pt idx="4">
                  <c:v>22</c:v>
                </c:pt>
                <c:pt idx="5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1B19"/>
                  </a:solidFill>
                  <a:latin typeface="IBM Plex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B19"/>
                </a:solidFill>
                <a:latin typeface="IBM Plex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609600"/>
            <a:ext cx="1097280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Reducing first-month cancellations for an independent bookshop’s subscription box: what the evidence supports and what it does not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2255520"/>
            <a:ext cx="10972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Intended audience: Owners and shop-floor leads at Lantern &amp; Quire Books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2537460"/>
            <a:ext cx="10972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Prepared by: Brightwater Research Studio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819400"/>
            <a:ext cx="10972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Date: 8 October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3101340"/>
            <a:ext cx="10972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Reference: BRS-LQ-2026-11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6042660"/>
            <a:ext cx="8229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Reducing first-month cancellations for an independent bookshop’s subscription box: what the evidence supports and…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839200" y="604266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/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609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Summary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28016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Most cancellations happen in the first four weeks, and the main stated reason is that the first box did not match what members expected</a:t>
            </a:r>
            <a:pPr algn="l" indent="0" marL="0">
              <a:lnSpc>
                <a:spcPts val="25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[1, 2]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. A short welcome email that sets expectations reduced first-month cancellations in a small test, but the test is too small to size the effect with confidence</a:t>
            </a:r>
            <a:pPr algn="l" indent="0" marL="0">
              <a:lnSpc>
                <a:spcPts val="25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[3]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254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Goals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3215640"/>
            <a:ext cx="30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•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15640"/>
            <a:ext cx="1066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Lower first-month cancellations without discounting the box.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3611880"/>
            <a:ext cx="30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•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611880"/>
            <a:ext cx="1066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Learn which expectation gaps matter most to new members.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6042660"/>
            <a:ext cx="8229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Reducing first-month cancellations for an independent bookshop’s subscription box: what the evidence supports and…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839200" y="604266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/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609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Constraints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280160"/>
            <a:ext cx="30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•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280160"/>
            <a:ext cx="1066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Two staff hours a week available for member communication.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1676400"/>
            <a:ext cx="30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•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76400"/>
            <a:ext cx="1066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No change to the box price this season.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2301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Evidence: when members leave, and the reasons they give when asked at cancellation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971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Across the spring cohort, 61% of all cancellations happened within the first four weeks</a:t>
            </a:r>
            <a:pPr algn="l" indent="0" marL="0">
              <a:lnSpc>
                <a:spcPts val="25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[1]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. Of members who gave a reason, the most common was that the first selection “wasn’t my kind of book”</a:t>
            </a:r>
            <a:pPr algn="l" indent="0" marL="0">
              <a:lnSpc>
                <a:spcPts val="25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[2]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6042660"/>
            <a:ext cx="8229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Reducing first-month cancellations for an independent bookshop’s subscription box: what the evidence supports and…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839200" y="604266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/ 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6096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Evidence: when members leave, and the reasons they give when asked at cancellation (continued)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645920"/>
            <a:ext cx="10972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Share of cancellations by week since joining, spring 2026 cohort</a:t>
            </a:r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[1]</a:t>
            </a:r>
            <a:endParaRPr lang="en-US" sz="1200" dirty="0"/>
          </a:p>
        </p:txBody>
      </p:sp>
      <p:graphicFrame>
        <p:nvGraphicFramePr>
          <p:cNvPr id="4" name="Chart 0" descr="Share of cancellations by week since joining, spring 2026 cohort. Share of cancellations (%) by Week since joining. Cancellations peak in week 3 (21%). Weeks 1–4 together account for 61% of all cancellations; weeks 5–8 for 22% and weeks 9 onward for 17%."/>
          <p:cNvGraphicFramePr/>
          <p:nvPr/>
        </p:nvGraphicFramePr>
        <p:xfrm>
          <a:off x="609600" y="1927860"/>
          <a:ext cx="10972800" cy="2794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9600" y="4798060"/>
            <a:ext cx="10972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Week since joining · Share of cancellations (%) · Unit: % of all cancellations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5080000"/>
            <a:ext cx="10972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Cancellations peak in week 3 (21%). Weeks 1–4 together account for 61% of all cancellations; weeks 5–8 for 22% and weeks 9 onward for 17%.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6042660"/>
            <a:ext cx="8229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Reducing first-month cancellations for an independent bookshop’s subscription box: what the evidence supports and…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839200" y="604266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/ 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6096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Evidence: when members leave, and the reasons they give when asked at cancellation (continued)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64592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In a two-arm test, members who received a welcome email describing how books are chosen cancelled less often in their first month (8 of 112) than members who did not (15 of 109)</a:t>
            </a:r>
            <a:pPr algn="l" indent="0" marL="0">
              <a:lnSpc>
                <a:spcPts val="25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[3]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. The difference is encouraging, but with fewer than 250 members in total it could be chance.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2758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i="1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“I loved the idea, but the first book felt like it was picked for someone else.”</a:t>
            </a:r>
            <a:pPr algn="l" indent="0" marL="0">
              <a:lnSpc>
                <a:spcPts val="25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[2]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3383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Recommendations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4053840"/>
            <a:ext cx="30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1.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053840"/>
            <a:ext cx="1066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Send the welcome email to every new member, and keep a 10% hold-out to keep measuring its effect.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4450080"/>
            <a:ext cx="30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2.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450080"/>
            <a:ext cx="1066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Add a three-question taste card at sign-up, and use it for the first selection only.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600" y="4846320"/>
            <a:ext cx="30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3.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846320"/>
            <a:ext cx="1066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Review week-3 cancellations monthly; benchmarks suggest a two-hour weekly budget is enough at this size</a:t>
            </a:r>
            <a:pPr algn="l" indent="0" marL="0">
              <a:lnSpc>
                <a:spcPts val="25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 [4]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5318760"/>
            <a:ext cx="25400" cy="320040"/>
          </a:xfrm>
          <a:prstGeom prst="rect">
            <a:avLst/>
          </a:prstGeom>
          <a:solidFill>
            <a:srgbClr val="E3C46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9600" y="5318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C1B19"/>
                </a:solidFill>
                <a:latin typeface="Newsreader 16pt" pitchFamily="34" charset="0"/>
                <a:ea typeface="Newsreader 16pt" pitchFamily="34" charset="-122"/>
                <a:cs typeface="Newsreader 16pt" pitchFamily="34" charset="-120"/>
              </a:rPr>
              <a:t>The email test is small. Treat its effect size as directional until the hold-out has run for a full season.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660"/>
            <a:ext cx="8229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Reducing first-month cancellations for an independent bookshop’s subscription box: what the evidence supports and…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839200" y="604266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/ 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609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C1B19"/>
                </a:solidFill>
                <a:latin typeface="Archivo SemiCondensed SemiBold" pitchFamily="34" charset="0"/>
                <a:ea typeface="Archivo SemiCondensed SemiBold" pitchFamily="34" charset="-122"/>
                <a:cs typeface="Archivo SemiCondensed SemiBold" pitchFamily="34" charset="-120"/>
              </a:rPr>
              <a:t>Sources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280160"/>
            <a:ext cx="304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280160"/>
            <a:ext cx="10668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Subscription cohort summary, Q2 2026 (sample source). Northbridge Reader Panel — fictional. July 2026. Table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1562100"/>
            <a:ext cx="304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562100"/>
            <a:ext cx="10668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Exit-survey responses from cancelled members (sample source). Lantern &amp; Quire Books — fictional. August 2026. Question 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1844040"/>
            <a:ext cx="304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44040"/>
            <a:ext cx="10668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Onboarding email test, two-arm comparison (sample source). Brightwater Research Studio — fictional. 14 September 2026. Results, para.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2125980"/>
            <a:ext cx="304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125980"/>
            <a:ext cx="10668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C1B1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Independent bookshop operating benchmarks 2026 (sample source). Guild of Small Booksellers — fictional. May 2026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600" y="6042660"/>
            <a:ext cx="8229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Reducing first-month cancellations for an independent bookshop’s subscription box: what the evidence supports and…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839200" y="604266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E5A5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brightwater-research-studio_reducing-first-month-cancellations-for_v1_ad40.pptx</dc:title>
  <dc:subject>Revision rev-005 (v1) — sample export, fictional data</dc:subject>
  <dc:creator>Document-quality prototype (sample data)</dc:creator>
  <cp:lastModifiedBy>Document-quality prototype (sample data)</cp:lastModifiedBy>
  <cp:revision>1</cp:revision>
  <dcterms:created xsi:type="dcterms:W3CDTF">2026-10-15T03:39:26Z</dcterms:created>
  <dcterms:modified xsi:type="dcterms:W3CDTF">2026-10-15T03:39:26Z</dcterms:modified>
</cp:coreProperties>
</file>