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cancellations (%)</c:v>
                </c:pt>
              </c:strCache>
            </c:strRef>
          </c:tx>
          <c:spPr>
            <a:solidFill>
              <a:srgbClr val="2B4C7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C1B19"/>
                    </a:solidFill>
                    <a:latin typeface="IBM Plex San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Week 1</c:v>
                  </c:pt>
                  <c:pt idx="1">
                    <c:v>Week 2</c:v>
                  </c:pt>
                  <c:pt idx="2">
                    <c:v>Week 3</c:v>
                  </c:pt>
                  <c:pt idx="3">
                    <c:v>Week 4</c:v>
                  </c:pt>
                  <c:pt idx="4">
                    <c:v>Weeks 5–8</c:v>
                  </c:pt>
                  <c:pt idx="5">
                    <c:v>Weeks 9+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</c:v>
                </c:pt>
                <c:pt idx="1">
                  <c:v>17</c:v>
                </c:pt>
                <c:pt idx="2">
                  <c:v>21</c:v>
                </c:pt>
                <c:pt idx="3">
                  <c:v>14</c:v>
                </c:pt>
                <c:pt idx="4">
                  <c:v>22</c:v>
                </c:pt>
                <c:pt idx="5">
                  <c:v>17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C1B19"/>
                  </a:solidFill>
                  <a:latin typeface="IBM Plex San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6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C1B19"/>
                </a:solidFill>
                <a:latin typeface="IBM Plex Sa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600" y="609600"/>
            <a:ext cx="10972800" cy="1341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dirty="0">
                <a:solidFill>
                  <a:srgbClr val="1C1B19"/>
                </a:solidFill>
                <a:latin typeface="Archivo SemiCondensed SemiBold" pitchFamily="34" charset="0"/>
                <a:ea typeface="Archivo SemiCondensed SemiBold" pitchFamily="34" charset="-122"/>
                <a:cs typeface="Archivo SemiCondensed SemiBold" pitchFamily="34" charset="-120"/>
              </a:rPr>
              <a:t>Reducing first-month cancellations for an independent bookshop’s subscription box: what the evidence supports and what it does not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09600" y="2255520"/>
            <a:ext cx="109728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1C1B1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Intended audience: Owners and shop-floor leads at Lantern &amp; Quire Books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09600" y="2537460"/>
            <a:ext cx="109728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1C1B1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Prepared by: Brightwater Research Studio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09600" y="2819400"/>
            <a:ext cx="109728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1C1B1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Date: 8 October 2026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09600" y="3101340"/>
            <a:ext cx="109728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1C1B1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Reference: BRS-LQ-2026-11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09600" y="6042660"/>
            <a:ext cx="82296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5E5A5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Reducing first-month cancellations for an independent bookshop’s subscription box: what the evidence supports and…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839200" y="6042660"/>
            <a:ext cx="27432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5E5A5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 / 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600" y="609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dirty="0">
                <a:solidFill>
                  <a:srgbClr val="1C1B19"/>
                </a:solidFill>
                <a:latin typeface="Archivo SemiCondensed SemiBold" pitchFamily="34" charset="0"/>
                <a:ea typeface="Archivo SemiCondensed SemiBold" pitchFamily="34" charset="-122"/>
                <a:cs typeface="Archivo SemiCondensed SemiBold" pitchFamily="34" charset="-120"/>
              </a:rPr>
              <a:t>Summary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609600" y="1280160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1C1B19"/>
                </a:solidFill>
                <a:latin typeface="Newsreader 16pt" pitchFamily="34" charset="0"/>
                <a:ea typeface="Newsreader 16pt" pitchFamily="34" charset="-122"/>
                <a:cs typeface="Newsreader 16pt" pitchFamily="34" charset="-120"/>
              </a:rPr>
              <a:t>Most cancellations happen in the first four weeks, and the main stated reason is that the first box did not match what members expected</a:t>
            </a:r>
            <a:pPr algn="l" indent="0" marL="0">
              <a:lnSpc>
                <a:spcPts val="2520"/>
              </a:lnSpc>
              <a:buNone/>
            </a:pPr>
            <a:r>
              <a:rPr lang="en-US" sz="1200" dirty="0">
                <a:solidFill>
                  <a:srgbClr val="5E5A5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 [1, 2]</a:t>
            </a:r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1C1B19"/>
                </a:solidFill>
                <a:latin typeface="Newsreader 16pt" pitchFamily="34" charset="0"/>
                <a:ea typeface="Newsreader 16pt" pitchFamily="34" charset="-122"/>
                <a:cs typeface="Newsreader 16pt" pitchFamily="34" charset="-120"/>
              </a:rPr>
              <a:t>. A short welcome email that sets expectations reduced first-month cancellations in a small test, but the test is too small to size the effect with confidence</a:t>
            </a:r>
            <a:pPr algn="l" indent="0" marL="0">
              <a:lnSpc>
                <a:spcPts val="2520"/>
              </a:lnSpc>
              <a:buNone/>
            </a:pPr>
            <a:r>
              <a:rPr lang="en-US" sz="1200" dirty="0">
                <a:solidFill>
                  <a:srgbClr val="5E5A5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 [3]</a:t>
            </a:r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1C1B19"/>
                </a:solidFill>
                <a:latin typeface="Newsreader 16pt" pitchFamily="34" charset="0"/>
                <a:ea typeface="Newsreader 16pt" pitchFamily="34" charset="-122"/>
                <a:cs typeface="Newsreader 16pt" pitchFamily="34" charset="-120"/>
              </a:rPr>
              <a:t>.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609600" y="2545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dirty="0">
                <a:solidFill>
                  <a:srgbClr val="1C1B19"/>
                </a:solidFill>
                <a:latin typeface="Archivo SemiCondensed SemiBold" pitchFamily="34" charset="0"/>
                <a:ea typeface="Archivo SemiCondensed SemiBold" pitchFamily="34" charset="-122"/>
                <a:cs typeface="Archivo SemiCondensed SemiBold" pitchFamily="34" charset="-120"/>
              </a:rPr>
              <a:t>Goals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609600" y="3215640"/>
            <a:ext cx="30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1C1B19"/>
                </a:solidFill>
                <a:latin typeface="Newsreader 16pt" pitchFamily="34" charset="0"/>
                <a:ea typeface="Newsreader 16pt" pitchFamily="34" charset="-122"/>
                <a:cs typeface="Newsreader 16pt" pitchFamily="34" charset="-120"/>
              </a:rPr>
              <a:t>•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3215640"/>
            <a:ext cx="1066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1C1B19"/>
                </a:solidFill>
                <a:latin typeface="Newsreader 16pt" pitchFamily="34" charset="0"/>
                <a:ea typeface="Newsreader 16pt" pitchFamily="34" charset="-122"/>
                <a:cs typeface="Newsreader 16pt" pitchFamily="34" charset="-120"/>
              </a:rPr>
              <a:t>Lower first-month cancellations without discounting the box.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09600" y="3611880"/>
            <a:ext cx="30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1C1B19"/>
                </a:solidFill>
                <a:latin typeface="Newsreader 16pt" pitchFamily="34" charset="0"/>
                <a:ea typeface="Newsreader 16pt" pitchFamily="34" charset="-122"/>
                <a:cs typeface="Newsreader 16pt" pitchFamily="34" charset="-120"/>
              </a:rPr>
              <a:t>•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611880"/>
            <a:ext cx="1066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1C1B19"/>
                </a:solidFill>
                <a:latin typeface="Newsreader 16pt" pitchFamily="34" charset="0"/>
                <a:ea typeface="Newsreader 16pt" pitchFamily="34" charset="-122"/>
                <a:cs typeface="Newsreader 16pt" pitchFamily="34" charset="-120"/>
              </a:rPr>
              <a:t>Learn which expectation gaps matter most to new members.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09600" y="6042660"/>
            <a:ext cx="82296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5E5A5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Reducing first-month cancellations for an independent bookshop’s subscription box: what the evidence supports and…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839200" y="6042660"/>
            <a:ext cx="27432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5E5A5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 / 6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600" y="609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dirty="0">
                <a:solidFill>
                  <a:srgbClr val="1C1B19"/>
                </a:solidFill>
                <a:latin typeface="Archivo SemiCondensed SemiBold" pitchFamily="34" charset="0"/>
                <a:ea typeface="Archivo SemiCondensed SemiBold" pitchFamily="34" charset="-122"/>
                <a:cs typeface="Archivo SemiCondensed SemiBold" pitchFamily="34" charset="-120"/>
              </a:rPr>
              <a:t>Constraints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609600" y="1280160"/>
            <a:ext cx="30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1C1B19"/>
                </a:solidFill>
                <a:latin typeface="Newsreader 16pt" pitchFamily="34" charset="0"/>
                <a:ea typeface="Newsreader 16pt" pitchFamily="34" charset="-122"/>
                <a:cs typeface="Newsreader 16pt" pitchFamily="34" charset="-120"/>
              </a:rPr>
              <a:t>•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1280160"/>
            <a:ext cx="1066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1C1B19"/>
                </a:solidFill>
                <a:latin typeface="Newsreader 16pt" pitchFamily="34" charset="0"/>
                <a:ea typeface="Newsreader 16pt" pitchFamily="34" charset="-122"/>
                <a:cs typeface="Newsreader 16pt" pitchFamily="34" charset="-120"/>
              </a:rPr>
              <a:t>Two staff hours a week available for member communication.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09600" y="1676400"/>
            <a:ext cx="30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1C1B19"/>
                </a:solidFill>
                <a:latin typeface="Newsreader 16pt" pitchFamily="34" charset="0"/>
                <a:ea typeface="Newsreader 16pt" pitchFamily="34" charset="-122"/>
                <a:cs typeface="Newsreader 16pt" pitchFamily="34" charset="-120"/>
              </a:rPr>
              <a:t>•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1676400"/>
            <a:ext cx="1066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1C1B19"/>
                </a:solidFill>
                <a:latin typeface="Newsreader 16pt" pitchFamily="34" charset="0"/>
                <a:ea typeface="Newsreader 16pt" pitchFamily="34" charset="-122"/>
                <a:cs typeface="Newsreader 16pt" pitchFamily="34" charset="-120"/>
              </a:rPr>
              <a:t>No change to the box price this season.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09600" y="23012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dirty="0">
                <a:solidFill>
                  <a:srgbClr val="1C1B19"/>
                </a:solidFill>
                <a:latin typeface="Archivo SemiCondensed SemiBold" pitchFamily="34" charset="0"/>
                <a:ea typeface="Archivo SemiCondensed SemiBold" pitchFamily="34" charset="-122"/>
                <a:cs typeface="Archivo SemiCondensed SemiBold" pitchFamily="34" charset="-120"/>
              </a:rPr>
              <a:t>Evidence: when members leave, and the reasons they give when asked at cancellation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609600" y="2971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1C1B19"/>
                </a:solidFill>
                <a:latin typeface="Newsreader 16pt" pitchFamily="34" charset="0"/>
                <a:ea typeface="Newsreader 16pt" pitchFamily="34" charset="-122"/>
                <a:cs typeface="Newsreader 16pt" pitchFamily="34" charset="-120"/>
              </a:rPr>
              <a:t>Across the spring cohort, 61% of all cancellations happened within the first four weeks</a:t>
            </a:r>
            <a:pPr algn="l" indent="0" marL="0">
              <a:lnSpc>
                <a:spcPts val="2520"/>
              </a:lnSpc>
              <a:buNone/>
            </a:pPr>
            <a:r>
              <a:rPr lang="en-US" sz="1200" dirty="0">
                <a:solidFill>
                  <a:srgbClr val="5E5A5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 [1]</a:t>
            </a:r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1C1B19"/>
                </a:solidFill>
                <a:latin typeface="Newsreader 16pt" pitchFamily="34" charset="0"/>
                <a:ea typeface="Newsreader 16pt" pitchFamily="34" charset="-122"/>
                <a:cs typeface="Newsreader 16pt" pitchFamily="34" charset="-120"/>
              </a:rPr>
              <a:t>. Of members who gave a reason, the most common was that the first selection “wasn’t my kind of book”</a:t>
            </a:r>
            <a:pPr algn="l" indent="0" marL="0">
              <a:lnSpc>
                <a:spcPts val="2520"/>
              </a:lnSpc>
              <a:buNone/>
            </a:pPr>
            <a:r>
              <a:rPr lang="en-US" sz="1200" dirty="0">
                <a:solidFill>
                  <a:srgbClr val="5E5A5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 [2]</a:t>
            </a:r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1C1B19"/>
                </a:solidFill>
                <a:latin typeface="Newsreader 16pt" pitchFamily="34" charset="0"/>
                <a:ea typeface="Newsreader 16pt" pitchFamily="34" charset="-122"/>
                <a:cs typeface="Newsreader 16pt" pitchFamily="34" charset="-120"/>
              </a:rPr>
              <a:t>.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09600" y="6042660"/>
            <a:ext cx="82296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5E5A5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Reducing first-month cancellations for an independent bookshop’s subscription box: what the evidence supports and…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839200" y="6042660"/>
            <a:ext cx="27432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5E5A5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 / 6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600" y="609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dirty="0">
                <a:solidFill>
                  <a:srgbClr val="1C1B19"/>
                </a:solidFill>
                <a:latin typeface="Archivo SemiCondensed SemiBold" pitchFamily="34" charset="0"/>
                <a:ea typeface="Archivo SemiCondensed SemiBold" pitchFamily="34" charset="-122"/>
                <a:cs typeface="Archivo SemiCondensed SemiBold" pitchFamily="34" charset="-120"/>
              </a:rPr>
              <a:t>Evidence: when members leave, and the reasons they give when asked at cancellation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609600" y="1280160"/>
            <a:ext cx="109728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1C1B1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Share of cancellations by week since joining, spring 2026 cohort</a:t>
            </a:r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5E5A5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 [1]</a:t>
            </a:r>
            <a:endParaRPr lang="en-US" sz="1200" dirty="0"/>
          </a:p>
        </p:txBody>
      </p:sp>
      <p:graphicFrame>
        <p:nvGraphicFramePr>
          <p:cNvPr id="4" name="Chart 0" descr="Share of cancellations by week since joining, spring 2026 cohort. Share of cancellations (%) by Week since joining. Cancellations peak in week 3 (21%). Weeks 1–4 together account for 61% of all cancellations; weeks 5–8 for 22% and weeks 9 onward for 17%."/>
          <p:cNvGraphicFramePr/>
          <p:nvPr/>
        </p:nvGraphicFramePr>
        <p:xfrm>
          <a:off x="609600" y="1562100"/>
          <a:ext cx="10972800" cy="2794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09600" y="4432300"/>
            <a:ext cx="109728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5E5A5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Week since joining · Share of cancellations (%) · Unit: % of all cancellations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609600" y="4714240"/>
            <a:ext cx="109728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1C1B1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Cancellations peak in week 3 (21%). Weeks 1–4 together account for 61% of all cancellations; weeks 5–8 for 22% and weeks 9 onward for 17%.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609600" y="6042660"/>
            <a:ext cx="82296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5E5A5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Reducing first-month cancellations for an independent bookshop’s subscription box: what the evidence supports and…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8839200" y="6042660"/>
            <a:ext cx="27432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5E5A5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 / 6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600" y="609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dirty="0">
                <a:solidFill>
                  <a:srgbClr val="1C1B19"/>
                </a:solidFill>
                <a:latin typeface="Archivo SemiCondensed SemiBold" pitchFamily="34" charset="0"/>
                <a:ea typeface="Archivo SemiCondensed SemiBold" pitchFamily="34" charset="-122"/>
                <a:cs typeface="Archivo SemiCondensed SemiBold" pitchFamily="34" charset="-120"/>
              </a:rPr>
              <a:t>Evidence: when members leave, and the reasons they give when asked at cancellation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609600" y="1280160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1C1B19"/>
                </a:solidFill>
                <a:latin typeface="Newsreader 16pt" pitchFamily="34" charset="0"/>
                <a:ea typeface="Newsreader 16pt" pitchFamily="34" charset="-122"/>
                <a:cs typeface="Newsreader 16pt" pitchFamily="34" charset="-120"/>
              </a:rPr>
              <a:t>In a two-arm test, members who received a welcome email describing how books are chosen cancelled less often in their first month (8 of 112) than members who did not (15 of 109)</a:t>
            </a:r>
            <a:pPr algn="l" indent="0" marL="0">
              <a:lnSpc>
                <a:spcPts val="2520"/>
              </a:lnSpc>
              <a:buNone/>
            </a:pPr>
            <a:r>
              <a:rPr lang="en-US" sz="1200" dirty="0">
                <a:solidFill>
                  <a:srgbClr val="5E5A5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 [3]</a:t>
            </a:r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1C1B19"/>
                </a:solidFill>
                <a:latin typeface="Newsreader 16pt" pitchFamily="34" charset="0"/>
                <a:ea typeface="Newsreader 16pt" pitchFamily="34" charset="-122"/>
                <a:cs typeface="Newsreader 16pt" pitchFamily="34" charset="-120"/>
              </a:rPr>
              <a:t>. The difference is encouraging, but with fewer than 250 members in total it could be chance.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609600" y="23926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i="1" dirty="0">
                <a:solidFill>
                  <a:srgbClr val="1C1B19"/>
                </a:solidFill>
                <a:latin typeface="Newsreader 16pt" pitchFamily="34" charset="0"/>
                <a:ea typeface="Newsreader 16pt" pitchFamily="34" charset="-122"/>
                <a:cs typeface="Newsreader 16pt" pitchFamily="34" charset="-120"/>
              </a:rPr>
              <a:t>“I loved the idea, but the first book felt like it was picked for someone else.”</a:t>
            </a:r>
            <a:pPr algn="l" indent="0" marL="0">
              <a:lnSpc>
                <a:spcPts val="2520"/>
              </a:lnSpc>
              <a:buNone/>
            </a:pPr>
            <a:r>
              <a:rPr lang="en-US" sz="1200" dirty="0">
                <a:solidFill>
                  <a:srgbClr val="5E5A5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 [2]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09600" y="30175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dirty="0">
                <a:solidFill>
                  <a:srgbClr val="1C1B19"/>
                </a:solidFill>
                <a:latin typeface="Archivo SemiCondensed SemiBold" pitchFamily="34" charset="0"/>
                <a:ea typeface="Archivo SemiCondensed SemiBold" pitchFamily="34" charset="-122"/>
                <a:cs typeface="Archivo SemiCondensed SemiBold" pitchFamily="34" charset="-120"/>
              </a:rPr>
              <a:t>Recommendations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609600" y="3688080"/>
            <a:ext cx="30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1C1B19"/>
                </a:solidFill>
                <a:latin typeface="Newsreader 16pt" pitchFamily="34" charset="0"/>
                <a:ea typeface="Newsreader 16pt" pitchFamily="34" charset="-122"/>
                <a:cs typeface="Newsreader 16pt" pitchFamily="34" charset="-120"/>
              </a:rPr>
              <a:t>1.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688080"/>
            <a:ext cx="1066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1C1B19"/>
                </a:solidFill>
                <a:latin typeface="Newsreader 16pt" pitchFamily="34" charset="0"/>
                <a:ea typeface="Newsreader 16pt" pitchFamily="34" charset="-122"/>
                <a:cs typeface="Newsreader 16pt" pitchFamily="34" charset="-120"/>
              </a:rPr>
              <a:t>Send the welcome email to every new member, and keep a 10% hold-out to keep measuring its effect.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09600" y="4084320"/>
            <a:ext cx="30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1C1B19"/>
                </a:solidFill>
                <a:latin typeface="Newsreader 16pt" pitchFamily="34" charset="0"/>
                <a:ea typeface="Newsreader 16pt" pitchFamily="34" charset="-122"/>
                <a:cs typeface="Newsreader 16pt" pitchFamily="34" charset="-120"/>
              </a:rPr>
              <a:t>2.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4084320"/>
            <a:ext cx="1066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1C1B19"/>
                </a:solidFill>
                <a:latin typeface="Newsreader 16pt" pitchFamily="34" charset="0"/>
                <a:ea typeface="Newsreader 16pt" pitchFamily="34" charset="-122"/>
                <a:cs typeface="Newsreader 16pt" pitchFamily="34" charset="-120"/>
              </a:rPr>
              <a:t>Add a three-question taste card at sign-up, and use it for the first selection only.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09600" y="4480560"/>
            <a:ext cx="30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1C1B19"/>
                </a:solidFill>
                <a:latin typeface="Newsreader 16pt" pitchFamily="34" charset="0"/>
                <a:ea typeface="Newsreader 16pt" pitchFamily="34" charset="-122"/>
                <a:cs typeface="Newsreader 16pt" pitchFamily="34" charset="-120"/>
              </a:rPr>
              <a:t>3.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4480560"/>
            <a:ext cx="1066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1C1B19"/>
                </a:solidFill>
                <a:latin typeface="Newsreader 16pt" pitchFamily="34" charset="0"/>
                <a:ea typeface="Newsreader 16pt" pitchFamily="34" charset="-122"/>
                <a:cs typeface="Newsreader 16pt" pitchFamily="34" charset="-120"/>
              </a:rPr>
              <a:t>Review week-3 cancellations monthly; benchmarks suggest a two-hour weekly budget is enough at this size</a:t>
            </a:r>
            <a:pPr algn="l" indent="0" marL="0">
              <a:lnSpc>
                <a:spcPts val="2520"/>
              </a:lnSpc>
              <a:buNone/>
            </a:pPr>
            <a:r>
              <a:rPr lang="en-US" sz="1200" dirty="0">
                <a:solidFill>
                  <a:srgbClr val="5E5A5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 [4]</a:t>
            </a:r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1C1B19"/>
                </a:solidFill>
                <a:latin typeface="Newsreader 16pt" pitchFamily="34" charset="0"/>
                <a:ea typeface="Newsreader 16pt" pitchFamily="34" charset="-122"/>
                <a:cs typeface="Newsreader 16pt" pitchFamily="34" charset="-120"/>
              </a:rPr>
              <a:t>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57200" y="4953000"/>
            <a:ext cx="25400" cy="320040"/>
          </a:xfrm>
          <a:prstGeom prst="rect">
            <a:avLst/>
          </a:prstGeom>
          <a:solidFill>
            <a:srgbClr val="E3C46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09600" y="49530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1C1B19"/>
                </a:solidFill>
                <a:latin typeface="Newsreader 16pt" pitchFamily="34" charset="0"/>
                <a:ea typeface="Newsreader 16pt" pitchFamily="34" charset="-122"/>
                <a:cs typeface="Newsreader 16pt" pitchFamily="34" charset="-120"/>
              </a:rPr>
              <a:t>The email test is small. Treat its effect size as directional until the hold-out has run for a full season.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09600" y="6042660"/>
            <a:ext cx="82296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5E5A5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Reducing first-month cancellations for an independent bookshop’s subscription box: what the evidence supports and…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839200" y="6042660"/>
            <a:ext cx="27432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5E5A5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 / 6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600" y="609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dirty="0">
                <a:solidFill>
                  <a:srgbClr val="1C1B19"/>
                </a:solidFill>
                <a:latin typeface="Archivo SemiCondensed SemiBold" pitchFamily="34" charset="0"/>
                <a:ea typeface="Archivo SemiCondensed SemiBold" pitchFamily="34" charset="-122"/>
                <a:cs typeface="Archivo SemiCondensed SemiBold" pitchFamily="34" charset="-120"/>
              </a:rPr>
              <a:t>Sources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609600" y="1280160"/>
            <a:ext cx="3048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1C1B1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1.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1280160"/>
            <a:ext cx="106680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1C1B1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Subscription cohort summary, Q2 2026 (sample source). Northbridge Reader Panel — fictional. July 2026. Table 3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09600" y="1562100"/>
            <a:ext cx="3048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1C1B1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2.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1562100"/>
            <a:ext cx="106680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1C1B1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Exit-survey responses from cancelled members (sample source). Lantern &amp; Quire Books — fictional. August 2026. Question 4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09600" y="1844040"/>
            <a:ext cx="3048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1C1B1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3.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1844040"/>
            <a:ext cx="106680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1C1B1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Onboarding email test, two-arm comparison (sample source). Brightwater Research Studio — fictional. 14 September 2026. Results, para. 2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09600" y="2125980"/>
            <a:ext cx="3048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1C1B1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2125980"/>
            <a:ext cx="106680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1C1B1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Independent bookshop operating benchmarks 2026 (sample source). Guild of Small Booksellers — fictional. May 2026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09600" y="6042660"/>
            <a:ext cx="82296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5E5A5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Reducing first-month cancellations for an independent bookshop’s subscription box: what the evidence supports and…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8839200" y="6042660"/>
            <a:ext cx="27432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5E5A5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6 / 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brightwater-research-studio_reducing-first-month-cancellations-for_v1_ad40.pptx</dc:title>
  <dc:subject>Revision rev-005 (v1) — sample export, fictional data</dc:subject>
  <dc:creator>Document-quality prototype (sample data)</dc:creator>
  <cp:lastModifiedBy>Document-quality prototype (sample data)</cp:lastModifiedBy>
  <cp:revision>1</cp:revision>
  <dcterms:created xsi:type="dcterms:W3CDTF">2026-10-14T18:37:50Z</dcterms:created>
  <dcterms:modified xsi:type="dcterms:W3CDTF">2026-10-14T18:37:50Z</dcterms:modified>
</cp:coreProperties>
</file>